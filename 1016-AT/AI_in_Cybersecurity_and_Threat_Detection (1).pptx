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9224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0"/>
            <a:ext cx="0" cy="685800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749040" y="0"/>
            <a:ext cx="0" cy="685800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0" y="0"/>
            <a:ext cx="0" cy="685800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0"/>
            <a:ext cx="0" cy="685800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0" y="0"/>
            <a:ext cx="0" cy="6858000"/>
          </a:xfrm>
          <a:prstGeom prst="line">
            <a:avLst/>
          </a:prstGeom>
          <a:noFill/>
          <a:ln w="12700">
            <a:solidFill>
              <a:srgbClr val="1331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12A4A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0" y="-548640"/>
            <a:ext cx="2377440" cy="2377440"/>
          </a:xfrm>
          <a:prstGeom prst="ellipse">
            <a:avLst/>
          </a:prstGeom>
          <a:solidFill>
            <a:srgbClr val="0F2646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777240"/>
            <a:ext cx="1051560" cy="105156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1" name="Image 0" descr="/home/claude/ppt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014984"/>
            <a:ext cx="576072" cy="5760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3317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CYBERSECURITY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22960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CF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Intelligence for Modern Threat Detection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68680" y="4160520"/>
            <a:ext cx="2743200" cy="0"/>
          </a:xfrm>
          <a:prstGeom prst="line">
            <a:avLst/>
          </a:prstGeom>
          <a:noFill/>
          <a:ln w="25400">
            <a:solidFill>
              <a:srgbClr val="00C2D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FA3B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</a:t>
            </a:r>
            <a:r>
              <a:rPr lang="en-US" sz="13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dirty="0">
                <a:solidFill>
                  <a:srgbClr val="8FA3B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Arthika Reddy</a:t>
            </a:r>
          </a:p>
          <a:p>
            <a:pPr marL="0" indent="0">
              <a:buNone/>
            </a:pPr>
            <a:r>
              <a:rPr lang="en-US" dirty="0">
                <a:solidFill>
                  <a:srgbClr val="8FA3B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192373033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Growing Threat Landscape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Cyberattacks are increasing in volume, speed, and sophistication — outpacing manual defenses.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A9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94460" y="2240280"/>
            <a:ext cx="914400" cy="9144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6" name="Image 0" descr="/home/claude/ppt/icons/bu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245973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300K+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85800" y="3886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malware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daily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51560" y="4727448"/>
            <a:ext cx="160020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48188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ransomware, trojans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10712" y="196596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A9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6532" y="2240280"/>
            <a:ext cx="914400" cy="9144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13" name="Image 1" descr="/home/claude/ppt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988" y="2459736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02152" y="3291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3547872" y="3886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surface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913632" y="4727448"/>
            <a:ext cx="160020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547872" y="48188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Cloud, IoT, remote endpoints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72784" y="196596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A9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118604" y="2240280"/>
            <a:ext cx="914400" cy="9144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20" name="Image 2" descr="/home/claude/ppt/icons/c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2459736"/>
            <a:ext cx="475488" cy="4754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64224" y="3291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277 days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6409944" y="3886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time to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breach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775704" y="4727448"/>
            <a:ext cx="160020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09944" y="48188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for insider threats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9134856" y="1965960"/>
            <a:ext cx="2606040" cy="36118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A9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980676" y="2240280"/>
            <a:ext cx="914400" cy="9144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27" name="Image 3" descr="/home/claude/ppt/icons/c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132" y="2459736"/>
            <a:ext cx="475488" cy="47548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26296" y="3291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A19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$4.9M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9272016" y="388620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data breach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637776" y="4727448"/>
            <a:ext cx="160020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272016" y="4818888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 healthcare &amp; finance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industry breach &amp; threat intelligence reports (representative figures)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Traditional Security Falls Short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0A1930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1965960"/>
            <a:ext cx="914400" cy="914400"/>
          </a:xfrm>
          <a:prstGeom prst="ellipse">
            <a:avLst/>
          </a:prstGeom>
          <a:solidFill>
            <a:srgbClr val="112A4A"/>
          </a:solidFill>
          <a:ln/>
        </p:spPr>
      </p:sp>
      <p:pic>
        <p:nvPicPr>
          <p:cNvPr id="5" name="Image 0" descr="/home/claude/ppt/icons/eyeslash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96" y="21854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0632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tools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see what they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already know.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005840" y="4526280"/>
            <a:ext cx="2743200" cy="0"/>
          </a:xfrm>
          <a:prstGeom prst="line">
            <a:avLst/>
          </a:prstGeom>
          <a:noFill/>
          <a:ln w="12700">
            <a:solidFill>
              <a:srgbClr val="23456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7548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systems require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manual updates to</a:t>
            </a:r>
            <a:endParaRPr lang="en-US" sz="12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pace with new attacks.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0" y="1417320"/>
            <a:ext cx="685800" cy="6858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10" name="Image 1" descr="/home/claude/ppt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158191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3990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Can't Scale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40680" y="1783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teams are overwhelmed by alert volume, leading to fatigue and missed incidents.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40680" y="231343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10,000+ daily alerts per SOC team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0" y="3108960"/>
            <a:ext cx="685800" cy="6858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15" name="Image 2" descr="/home/claude/ppt/icons/eyesla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327355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309067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Rules Miss Novel Attacks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440680" y="3474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Signature-based defenses fail against zero-day exploits and polymorphic malware.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440680" y="400507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self-modifying ransomware variants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0" y="4800600"/>
            <a:ext cx="685800" cy="6858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20" name="Image 3" descr="/home/claude/ppt/icons/ale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4965192"/>
            <a:ext cx="356616" cy="35661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47823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Detection, Costly Damage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5440680" y="51663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identification lets attackers move laterally before they're ever noticed.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5440680" y="5696712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weeks of undetected network access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AI Transforms Threat Detection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F3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shifts security from reactive rule-matching to proactive, adaptive pattern recognition.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051560" cy="1051560"/>
          </a:xfrm>
          <a:prstGeom prst="ellipse">
            <a:avLst/>
          </a:prstGeom>
          <a:solidFill>
            <a:srgbClr val="112A4A"/>
          </a:solidFill>
          <a:ln/>
        </p:spPr>
      </p:sp>
      <p:pic>
        <p:nvPicPr>
          <p:cNvPr id="5" name="Image 0" descr="/home/claude/ppt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340864"/>
            <a:ext cx="576072" cy="5760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356616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112A4A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37490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Ingest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4187952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collects logs, traffic, and endpoint telemetry at massive scale.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5468112"/>
            <a:ext cx="2249424" cy="0"/>
          </a:xfrm>
          <a:prstGeom prst="line">
            <a:avLst/>
          </a:prstGeom>
          <a:noFill/>
          <a:ln w="12700">
            <a:solidFill>
              <a:srgbClr val="23456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541264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Firewalls, DNS, cloud, IAM logs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64992" y="356616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112A4A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47872" y="37490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Learn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547872" y="4187952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baseline 'normal' behavior across users, devices, and networks.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547872" y="5468112"/>
            <a:ext cx="2249424" cy="0"/>
          </a:xfrm>
          <a:prstGeom prst="line">
            <a:avLst/>
          </a:prstGeom>
          <a:noFill/>
          <a:ln w="12700">
            <a:solidFill>
              <a:srgbClr val="23456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47872" y="5541264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&amp; supervised learning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181344" y="356616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112A4A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64224" y="37490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Detect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364224" y="4187952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subtle anomalies and correlations humans and static rules would miss.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364224" y="5468112"/>
            <a:ext cx="2249424" cy="0"/>
          </a:xfrm>
          <a:prstGeom prst="line">
            <a:avLst/>
          </a:prstGeom>
          <a:noFill/>
          <a:ln w="12700">
            <a:solidFill>
              <a:srgbClr val="23456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64224" y="5541264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Risk-scored, prioritized alerts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8997696" y="3566160"/>
            <a:ext cx="2615184" cy="2651760"/>
          </a:xfrm>
          <a:prstGeom prst="roundRect">
            <a:avLst>
              <a:gd name="adj" fmla="val 3497"/>
            </a:avLst>
          </a:prstGeom>
          <a:solidFill>
            <a:srgbClr val="112A4A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180576" y="37490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Respond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9180576" y="4187952"/>
            <a:ext cx="22494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and, where authorized, automatically contains active threats.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9180576" y="5468112"/>
            <a:ext cx="2249424" cy="0"/>
          </a:xfrm>
          <a:prstGeom prst="line">
            <a:avLst/>
          </a:prstGeom>
          <a:noFill/>
          <a:ln w="12700">
            <a:solidFill>
              <a:srgbClr val="23456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80576" y="5541264"/>
            <a:ext cx="22494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host, revoke access, alert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AI Techniques in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A90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94460" y="1920240"/>
            <a:ext cx="914400" cy="914400"/>
          </a:xfrm>
          <a:prstGeom prst="ellipse">
            <a:avLst/>
          </a:prstGeom>
          <a:solidFill>
            <a:srgbClr val="CFF3F6"/>
          </a:solidFill>
          <a:ln/>
        </p:spPr>
      </p:sp>
      <p:pic>
        <p:nvPicPr>
          <p:cNvPr id="5" name="Image 0" descr="/home/claude/ppt/icons/c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916" y="21396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35204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traffic and files as benign or malicious using trained models on historical data.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005840" y="5120640"/>
            <a:ext cx="169164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212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XGBoost, random forests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10712" y="16002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A9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256532" y="1920240"/>
            <a:ext cx="914400" cy="914400"/>
          </a:xfrm>
          <a:prstGeom prst="ellipse">
            <a:avLst/>
          </a:prstGeom>
          <a:solidFill>
            <a:srgbClr val="CFF3F6"/>
          </a:solidFill>
          <a:ln/>
        </p:spPr>
      </p:sp>
      <p:pic>
        <p:nvPicPr>
          <p:cNvPr id="12" name="Image 1" descr="/home/claude/ppt/icons/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988" y="213969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593592" y="35204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detect complex, non-linear patterns in massive, high-dimensional datasets.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867912" y="5120640"/>
            <a:ext cx="169164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47872" y="5212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CNNs, transformers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272784" y="16002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A9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118604" y="1920240"/>
            <a:ext cx="914400" cy="914400"/>
          </a:xfrm>
          <a:prstGeom prst="ellipse">
            <a:avLst/>
          </a:prstGeom>
          <a:solidFill>
            <a:srgbClr val="CFF3F6"/>
          </a:solidFill>
          <a:ln/>
        </p:spPr>
      </p:sp>
      <p:pic>
        <p:nvPicPr>
          <p:cNvPr id="19" name="Image 2" descr="/home/claude/ppt/icons/commen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060" y="2139696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9944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455664" y="35204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phishing emails, dark-web chatter, and threat intel reports for malicious intent.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729984" y="5120640"/>
            <a:ext cx="169164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09944" y="5212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BERT-based classifiers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134856" y="1600200"/>
            <a:ext cx="2606040" cy="42062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6B7A90">
                <a:alpha val="1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980676" y="1920240"/>
            <a:ext cx="914400" cy="914400"/>
          </a:xfrm>
          <a:prstGeom prst="ellipse">
            <a:avLst/>
          </a:prstGeom>
          <a:solidFill>
            <a:srgbClr val="CFF3F6"/>
          </a:solidFill>
          <a:ln/>
        </p:spPr>
      </p:sp>
      <p:pic>
        <p:nvPicPr>
          <p:cNvPr id="26" name="Image 3" descr="/home/claude/ppt/icons/heartb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0132" y="2139696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72016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Analytics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317736" y="3520440"/>
            <a:ext cx="22402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baseline of normal user/entity behavior to flag deviations in real time.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9592056" y="5120640"/>
            <a:ext cx="1691640" cy="0"/>
          </a:xfrm>
          <a:prstGeom prst="line">
            <a:avLst/>
          </a:prstGeom>
          <a:noFill/>
          <a:ln w="12700">
            <a:solidFill>
              <a:srgbClr val="E8ECF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272016" y="5212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UEBA platforms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Applications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already embedded across the modern security stack.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6B7A9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914400" cy="914400"/>
          </a:xfrm>
          <a:prstGeom prst="ellipse">
            <a:avLst/>
          </a:prstGeom>
          <a:solidFill>
            <a:srgbClr val="CFF3F6"/>
          </a:solidFill>
          <a:ln/>
        </p:spPr>
      </p:sp>
      <p:pic>
        <p:nvPicPr>
          <p:cNvPr id="6" name="Image 0" descr="/home/claude/ppt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276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02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SIEM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965960" y="240487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millions of events per second to surface the alerts that actually matter.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965960" y="34107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Splunk, Microsoft Sentinel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309360" y="178308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6B7A9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057400"/>
            <a:ext cx="914400" cy="914400"/>
          </a:xfrm>
          <a:prstGeom prst="ellipse">
            <a:avLst/>
          </a:prstGeom>
          <a:solidFill>
            <a:srgbClr val="CFF3F6"/>
          </a:solidFill>
          <a:ln/>
        </p:spPr>
      </p:sp>
      <p:pic>
        <p:nvPicPr>
          <p:cNvPr id="12" name="Image 1" descr="/home/claude/ppt/icons/lap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22768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26680" y="20025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Detection (EDR)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726680" y="240487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device behavior continuously to catch fileless malware and living-off-the-land attacks.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726680" y="34107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CrowdStrike, SentinelOne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02336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6B7A9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4297680"/>
            <a:ext cx="914400" cy="914400"/>
          </a:xfrm>
          <a:prstGeom prst="ellipse">
            <a:avLst/>
          </a:prstGeom>
          <a:solidFill>
            <a:srgbClr val="CFF3F6"/>
          </a:solidFill>
          <a:ln/>
        </p:spPr>
      </p:sp>
      <p:pic>
        <p:nvPicPr>
          <p:cNvPr id="18" name="Image 2" descr="/home/claude/ppt/icons/m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416" y="4517136"/>
            <a:ext cx="475488" cy="4754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965960" y="42428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&amp; Email Defense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965960" y="464515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models spot spoofed domains, urgency cues, and social-engineering language.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965960" y="56509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blocks look-alike domains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309360" y="402336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6B7A90">
                <a:alpha val="1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583680" y="4297680"/>
            <a:ext cx="914400" cy="914400"/>
          </a:xfrm>
          <a:prstGeom prst="ellipse">
            <a:avLst/>
          </a:prstGeom>
          <a:solidFill>
            <a:srgbClr val="CFF3F6"/>
          </a:solidFill>
          <a:ln/>
        </p:spPr>
      </p:sp>
      <p:pic>
        <p:nvPicPr>
          <p:cNvPr id="24" name="Image 3" descr="/home/claude/ppt/icons/card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36" y="4517136"/>
            <a:ext cx="475488" cy="4754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726680" y="424281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Identity Protection</a:t>
            </a:r>
            <a:endParaRPr lang="en-US" sz="1550" dirty="0"/>
          </a:p>
        </p:txBody>
      </p:sp>
      <p:sp>
        <p:nvSpPr>
          <p:cNvPr id="26" name="Text 20"/>
          <p:cNvSpPr/>
          <p:nvPr/>
        </p:nvSpPr>
        <p:spPr>
          <a:xfrm>
            <a:off x="7726680" y="4645152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anomalous transactions and login patterns in real time, before damage occurs.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726680" y="565099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card-not-present detection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Benefits of AI-Powered Defense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73736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112A4A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97380" y="2103120"/>
            <a:ext cx="1005840" cy="100584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5" name="Image 0" descr="/home/claude/ppt/icons/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5124" y="2340864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3291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60120" y="4114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threat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speed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325880" y="5102352"/>
            <a:ext cx="214884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51937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manual log review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34840" y="173736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112A4A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46420" y="2103120"/>
            <a:ext cx="1005840" cy="100584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12" name="Image 1" descr="/home/claude/ppt/icons/sca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4164" y="2340864"/>
            <a:ext cx="530352" cy="5303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3291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4709160" y="4114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tireless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at scale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74920" y="5102352"/>
            <a:ext cx="214884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09160" y="51937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nights, weekends, or gaps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183880" y="1737360"/>
            <a:ext cx="3429000" cy="4206240"/>
          </a:xfrm>
          <a:prstGeom prst="roundRect">
            <a:avLst>
              <a:gd name="adj" fmla="val 3200"/>
            </a:avLst>
          </a:prstGeom>
          <a:solidFill>
            <a:srgbClr val="112A4A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395460" y="2103120"/>
            <a:ext cx="1005840" cy="100584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19" name="Image 2" descr="/home/claude/ppt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3204" y="2340864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329184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False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Positives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8458200" y="411480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Sharper accuracy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analyst time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8823960" y="5102352"/>
            <a:ext cx="214884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458200" y="51937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focus on real incidents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72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Limitations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raises the bar for defenders — but it isn't a silver bullet.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6B7A9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88820"/>
            <a:ext cx="685800" cy="6858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6" name="Image 0" descr="/home/claude/ppt/icons/sp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15341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56232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846320" y="1892808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use AI to craft evasive malware and highly convincing deepfake social engineering.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846320" y="242316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AI-generated phishing lures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8640" y="300837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6B7A9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214116"/>
            <a:ext cx="685800" cy="6858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12" name="Image 1" descr="/home/claude/ppt/icons/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3378708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081528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 &amp; Alert Fatigue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4846320" y="3118104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Poorly tuned models still generate noise, eroding analyst trust in the system.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846320" y="3648456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burnout from constant triage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4233672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6B7A9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439412"/>
            <a:ext cx="685800" cy="6858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18" name="Image 2" descr="/home/claude/ppt/icons/balan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604004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306824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Bias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846320" y="4343400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on sensitive data must balance detection power with privacy and fairness.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846320" y="4873752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GDPR &amp; fairness audits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5458968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6B7A9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77240" y="5664708"/>
            <a:ext cx="685800" cy="685800"/>
          </a:xfrm>
          <a:prstGeom prst="ellipse">
            <a:avLst/>
          </a:prstGeom>
          <a:solidFill>
            <a:srgbClr val="FDEEEE"/>
          </a:solidFill>
          <a:ln/>
        </p:spPr>
      </p:sp>
      <p:pic>
        <p:nvPicPr>
          <p:cNvPr id="24" name="Image 3" descr="/home/claude/ppt/icons/lockop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5829300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5532120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Gaps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4846320" y="5568696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'Black box' decisions can be hard to justify to auditors, regulators, or leadership.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4846320" y="6099048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compliance &amp; audit reviews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AI Security Is Headed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85800" y="178308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112A4A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43100" y="2103120"/>
            <a:ext cx="914400" cy="91440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5" name="Image 0" descr="/home/claude/ppt/icons/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232257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Defense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960120" y="3794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summarize incidents, draft playbooks, and accelerate analyst investigation.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1325880" y="5148072"/>
            <a:ext cx="214884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52395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Copilot-style SOC assistants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34840" y="178308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112A4A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92140" y="2103120"/>
            <a:ext cx="914400" cy="91440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12" name="Image 1" descr="/home/claude/ppt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596" y="232257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6344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Response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09160" y="3794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move from 'detect &amp; alert' to authorized real-time containment and remediation.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74920" y="5148072"/>
            <a:ext cx="214884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09160" y="52395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auto-isolating endpoints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83880" y="1783080"/>
            <a:ext cx="3429000" cy="4114800"/>
          </a:xfrm>
          <a:prstGeom prst="roundRect">
            <a:avLst>
              <a:gd name="adj" fmla="val 3200"/>
            </a:avLst>
          </a:prstGeom>
          <a:solidFill>
            <a:srgbClr val="112A4A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441180" y="2103120"/>
            <a:ext cx="914400" cy="91440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19" name="Image 2" descr="/home/claude/ppt/icons/rock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0636" y="2322576"/>
            <a:ext cx="475488" cy="47548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12480" y="32004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Threat Intel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458200" y="37947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D6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forecast likely attack paths before adversaries act, not just after.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823960" y="5148072"/>
            <a:ext cx="2148840" cy="0"/>
          </a:xfrm>
          <a:prstGeom prst="line">
            <a:avLst/>
          </a:prstGeom>
          <a:noFill/>
          <a:ln w="12700">
            <a:solidFill>
              <a:srgbClr val="1E3A63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458200" y="523951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attack-path simulation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31520"/>
            <a:ext cx="1005840" cy="1005840"/>
          </a:xfrm>
          <a:prstGeom prst="ellipse">
            <a:avLst/>
          </a:prstGeom>
          <a:solidFill>
            <a:srgbClr val="112A4A"/>
          </a:solidFill>
          <a:ln/>
        </p:spPr>
      </p:sp>
      <p:pic>
        <p:nvPicPr>
          <p:cNvPr id="3" name="Image 0" descr="/home/claude/ppt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969264"/>
            <a:ext cx="530352" cy="530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74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868680" y="2606040"/>
            <a:ext cx="2743200" cy="0"/>
          </a:xfrm>
          <a:prstGeom prst="line">
            <a:avLst/>
          </a:prstGeom>
          <a:noFill/>
          <a:ln w="25400">
            <a:solidFill>
              <a:srgbClr val="00C2D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926080"/>
            <a:ext cx="411480" cy="41148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7" name="Image 1" descr="/home/claude/ppt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01752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28712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turns overwhelming data volume into fast, prioritized signal.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2960" y="3584448"/>
            <a:ext cx="411480" cy="41148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10" name="Image 2" descr="/home/claude/ppt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7588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529584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augments — not replaces — skilled human security analysts.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822960" y="4242816"/>
            <a:ext cx="411480" cy="41148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13" name="Image 3" descr="/home/claude/ppt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34256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4187952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Adversaries use AI too, so defense must evolve continuously.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822960" y="4901184"/>
            <a:ext cx="411480" cy="41148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16" name="Image 4" descr="/home/claude/ppt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92624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63040" y="4846320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and bias controls matter as much as raw accuracy.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822960" y="5559552"/>
            <a:ext cx="411480" cy="411480"/>
          </a:xfrm>
          <a:prstGeom prst="ellipse">
            <a:avLst/>
          </a:prstGeom>
          <a:solidFill>
            <a:srgbClr val="0F2646"/>
          </a:solidFill>
          <a:ln/>
        </p:spPr>
      </p:sp>
      <p:pic>
        <p:nvPicPr>
          <p:cNvPr id="19" name="Image 5" descr="/home/claude/ppt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5650992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463040" y="550468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7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winning strategy pairs AI speed with human judgment.</a:t>
            </a:r>
            <a:endParaRPr lang="en-US" sz="1500" dirty="0"/>
          </a:p>
        </p:txBody>
      </p:sp>
      <p:sp>
        <p:nvSpPr>
          <p:cNvPr id="21" name="Text 13"/>
          <p:cNvSpPr/>
          <p:nvPr/>
        </p:nvSpPr>
        <p:spPr>
          <a:xfrm>
            <a:off x="822960" y="6263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808</Words>
  <Application>Microsoft Office PowerPoint</Application>
  <PresentationFormat>Widescreen</PresentationFormat>
  <Paragraphs>135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Arthika Koduru</cp:lastModifiedBy>
  <cp:revision>2</cp:revision>
  <dcterms:created xsi:type="dcterms:W3CDTF">2026-08-22T03:05:49Z</dcterms:created>
  <dcterms:modified xsi:type="dcterms:W3CDTF">2026-08-22T05:45:26Z</dcterms:modified>
</cp:coreProperties>
</file>